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6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157F0-8EAD-2974-CB11-536384866D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40A7DA-EC5F-2602-6A12-F5678E6B1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026AD-2830-73DC-BEC0-0846BE23C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2600D-309D-4BBD-826C-FDC3AD724428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D6A6E-960F-4F7C-A6BC-91739C805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4505B-D2E7-C51C-6A20-DFC7155A3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E795C-72D4-4517-8385-BA314E35F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153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B324C-E12E-72D6-1942-09920B692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890AC-ACA0-C682-0FD2-6D3BFD66B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53D23-F455-96C0-AA48-4CE5FA17F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2600D-309D-4BBD-826C-FDC3AD724428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1E0FB-DEB6-1125-41DC-119CEDCF7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1D603-376C-72EA-1BDF-997984494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E795C-72D4-4517-8385-BA314E35F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5665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310C8-96F7-F6B1-5DCE-FA9611516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7E0C5-32B1-D0E9-F777-4C2502902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900EA-8B92-D873-83F6-550B3F4D4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2600D-309D-4BBD-826C-FDC3AD724428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103FC-18C0-66EC-EEB1-4125D40D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2DC15-09D0-24E5-CB54-12FE8B83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E795C-72D4-4517-8385-BA314E35F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4699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65AAE-1227-CEE8-D2B3-FD977E8AD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F31E3-7B25-8B41-0371-A8A331C42D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1C56C-BCF3-BFE3-0DDD-12921466D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16CC2-5951-3EB9-93E6-BBBB4C547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2600D-309D-4BBD-826C-FDC3AD724428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8078E-F38C-42F8-2A5A-87D42806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2864C-5503-7018-66CB-78DC0112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E795C-72D4-4517-8385-BA314E35F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967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1B031-DF69-919A-3BD4-4EABD25CB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1D67A-FD13-6477-4E98-0C75ACA9E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FEC422-F8CD-707D-0294-288A5B1F16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A61BBE-1670-542F-592D-917D60C640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40354E-5E11-4FC4-43E1-C02C878676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FBA18B-6D0A-669F-E30F-C359D7A8B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2600D-309D-4BBD-826C-FDC3AD724428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10CF8B-0128-7EC9-CA70-273085BFA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78832F-214A-DF7B-666F-0791B77C0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E795C-72D4-4517-8385-BA314E35F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298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EA4B1-3BCF-D99D-A30C-FC6A5C5AB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6C8A7-0EBA-1DD1-F43A-841E377CB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2600D-309D-4BBD-826C-FDC3AD724428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7D03F-26CA-25FD-AAC1-772A3CD89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2E80F0-EB40-0FD5-F133-5C455436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E795C-72D4-4517-8385-BA314E35F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84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915F3A-5209-5E54-2A95-33B20B85F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2600D-309D-4BBD-826C-FDC3AD724428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A2856D-C724-DAD7-D694-5AAEB84F7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31DC9-FAC1-851E-9267-6BFC50595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E795C-72D4-4517-8385-BA314E35F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421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6DD31-2C5C-8BC2-52E8-D595C2EED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67FBE-2AFD-9DF9-90F1-D692CB91C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E67AB-8E05-03F5-D7DB-0795F0542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CA8C9-6D2A-563E-1B62-E6903DE5D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2600D-309D-4BBD-826C-FDC3AD724428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4A7F1-1B73-FD2C-28B3-F1D74947E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1DB2D-D6BF-C262-2B75-DEA3EE21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E795C-72D4-4517-8385-BA314E35F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000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E6B2E-10D8-CB35-4D9C-518A011E0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7D9D26-C58C-1D7E-78A0-1AF13212E29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B3C8C-9EA1-B6EE-3CA5-8E0E5AB19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01F52-9F03-CDC9-F251-88DC00396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2600D-309D-4BBD-826C-FDC3AD724428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D6123-3B4C-9015-001B-839DDF28E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C5EB8-0D96-A2D6-8DAA-3A68EE44D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E795C-72D4-4517-8385-BA314E35F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497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66DDC-F2C4-EA31-B49C-0D542C507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73977-B11E-8F72-7066-FF9028473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6CBC3-2FF4-1DC7-FA5B-A254EDE95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2600D-309D-4BBD-826C-FDC3AD724428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F8D84-9E8A-80E2-4343-EAD4967C7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4FDFD-BEC5-4411-4369-F44776504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E795C-72D4-4517-8385-BA314E35F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2040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DE7165-8818-55F3-AC83-292B9EEF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977284-1803-A433-63B6-BCB6EC4591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715C1-77A2-CB3D-01AE-8221F386A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2600D-309D-4BBD-826C-FDC3AD724428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80D0C-5805-1B95-FA0E-53D375A9C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A2465-274B-6DFC-4663-2BEBA3E80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E795C-72D4-4517-8385-BA314E35F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4121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75D516-1F2B-53BC-5CD6-6FEDA7CA8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32DCA-0AAF-2539-FD74-4A4A69C22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0FBA3-1FAF-DEE8-CB21-C3031EB7C3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42600D-309D-4BBD-826C-FDC3AD724428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AC587-914E-F0C1-5D2F-BF1892E0D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A3E88-9A52-E935-A6A6-065352ADB2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FE795C-72D4-4517-8385-BA314E35FD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676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725DA-E107-34E6-0521-DA47461E1A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72E51D-2DBC-F2F8-7449-EC283594D0ED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991B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FC7A9B-9E29-B218-E42E-68D37C44DCE5}"/>
              </a:ext>
            </a:extLst>
          </p:cNvPr>
          <p:cNvSpPr/>
          <p:nvPr/>
        </p:nvSpPr>
        <p:spPr>
          <a:xfrm>
            <a:off x="762000" y="889000"/>
            <a:ext cx="3937000" cy="457200"/>
          </a:xfrm>
          <a:prstGeom prst="rect">
            <a:avLst/>
          </a:prstGeom>
          <a:solidFill>
            <a:srgbClr val="991B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489D3E-A66B-D240-163D-6DAAC993A989}"/>
              </a:ext>
            </a:extLst>
          </p:cNvPr>
          <p:cNvSpPr txBox="1"/>
          <p:nvPr/>
        </p:nvSpPr>
        <p:spPr>
          <a:xfrm>
            <a:off x="825500" y="952500"/>
            <a:ext cx="381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200" b="1">
                <a:solidFill>
                  <a:srgbClr val="FFFFFF"/>
                </a:solidFill>
                <a:latin typeface="Segoe UI" panose="020B0502040204020203" pitchFamily="34" charset="0"/>
              </a:rPr>
              <a:t>ĐỒ ÁN CAPSTONE — ECO2415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18C382-3970-35C9-04D5-015C51028A21}"/>
              </a:ext>
            </a:extLst>
          </p:cNvPr>
          <p:cNvSpPr txBox="1"/>
          <p:nvPr/>
        </p:nvSpPr>
        <p:spPr>
          <a:xfrm>
            <a:off x="698500" y="1524000"/>
            <a:ext cx="10795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Segoe UI" panose="020B0502040204020203" pitchFamily="34" charset="0"/>
              </a:rPr>
              <a:t>HỆ THỐNG NHÀ HÀNG
ĐẶT BÀN &amp; GỌI MÓN TRỰC TUYẾN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50C896-DCA7-51B9-A900-41F0B83BDED7}"/>
              </a:ext>
            </a:extLst>
          </p:cNvPr>
          <p:cNvSpPr txBox="1"/>
          <p:nvPr/>
        </p:nvSpPr>
        <p:spPr>
          <a:xfrm>
            <a:off x="762000" y="31115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>
                <a:solidFill>
                  <a:srgbClr val="D97706"/>
                </a:solidFill>
                <a:latin typeface="Segoe UI" panose="020B0502040204020203" pitchFamily="34" charset="0"/>
              </a:rPr>
              <a:t>Đề tài 11 · Restaurant Reservation &amp; Digital Table Ordering (Độ khó: ★★)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31A144-52F8-9725-A225-32339675482A}"/>
              </a:ext>
            </a:extLst>
          </p:cNvPr>
          <p:cNvSpPr/>
          <p:nvPr/>
        </p:nvSpPr>
        <p:spPr>
          <a:xfrm>
            <a:off x="762000" y="3873500"/>
            <a:ext cx="10668000" cy="9525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D96860-8D55-C6AA-5FAB-52224AC9D049}"/>
              </a:ext>
            </a:extLst>
          </p:cNvPr>
          <p:cNvSpPr txBox="1"/>
          <p:nvPr/>
        </p:nvSpPr>
        <p:spPr>
          <a:xfrm>
            <a:off x="952500" y="4000500"/>
            <a:ext cx="10287000" cy="6694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50">
                <a:solidFill>
                  <a:srgbClr val="E2E8F0"/>
                </a:solidFill>
                <a:latin typeface="Segoe UI" panose="020B0502040204020203" pitchFamily="34" charset="0"/>
              </a:rPr>
              <a:t>• Kiến trúc: 4 tầng Clean Architecture (CoreBusiness → UseCases → Plugins → WebApp)
• Nền tảng: .NET 8/10, Blazor Web App (Interactive Server), SQL Server + Dapper (3NF, Transaction)
• Mở rộng: Trợ lý AI IChatClient tư vấn thực đơn món ăn cá nhân hóa</a:t>
            </a:r>
            <a:endParaRPr lang="en-GB" sz="125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ADE305-DF55-8E0B-EC18-E3425DCE8E1B}"/>
              </a:ext>
            </a:extLst>
          </p:cNvPr>
          <p:cNvSpPr txBox="1"/>
          <p:nvPr/>
        </p:nvSpPr>
        <p:spPr>
          <a:xfrm>
            <a:off x="762000" y="5334000"/>
            <a:ext cx="1066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300">
                <a:solidFill>
                  <a:srgbClr val="64748B"/>
                </a:solidFill>
                <a:latin typeface="Segoe UI" panose="020B0502040204020203" pitchFamily="34" charset="0"/>
              </a:rPr>
              <a:t>Nhóm sinh viên thực hiện  |  Lớp học phần ECO2415 — Học kỳ Capstone 2026
Giảng viên hướng dẫn: Bộ môn Hệ thống Thông tin &amp; Thương mại Điện tử</a:t>
            </a:r>
            <a:endParaRPr lang="en-GB" sz="13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734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AE778A-E665-C03F-1562-25693F3FA7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394F2C-FF65-34DC-AF55-AACBE07A375A}"/>
              </a:ext>
            </a:extLst>
          </p:cNvPr>
          <p:cNvSpPr txBox="1"/>
          <p:nvPr/>
        </p:nvSpPr>
        <p:spPr>
          <a:xfrm>
            <a:off x="635000" y="317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991B1B"/>
                </a:solidFill>
                <a:latin typeface="Segoe UI" panose="020B0502040204020203" pitchFamily="34" charset="0"/>
              </a:rPr>
              <a:t>MỤC TIÊU &amp; BỐI CẢNH ĐỀ TÀI 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D24B8-2DC3-C7C4-146E-2224C27E23AB}"/>
              </a:ext>
            </a:extLst>
          </p:cNvPr>
          <p:cNvSpPr txBox="1"/>
          <p:nvPr/>
        </p:nvSpPr>
        <p:spPr>
          <a:xfrm>
            <a:off x="635000" y="571500"/>
            <a:ext cx="1092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200" b="1">
                <a:solidFill>
                  <a:srgbClr val="0F172A"/>
                </a:solidFill>
                <a:latin typeface="Segoe UI" panose="020B0502040204020203" pitchFamily="34" charset="0"/>
              </a:rPr>
              <a:t>Tổng Quan &amp; Hai Phân Hệ Nghiệp Vụ Cốt Lõi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1BD20A8-AAEA-88B7-FA9B-CE15A437A75F}"/>
              </a:ext>
            </a:extLst>
          </p:cNvPr>
          <p:cNvCxnSpPr/>
          <p:nvPr/>
        </p:nvCxnSpPr>
        <p:spPr>
          <a:xfrm>
            <a:off x="635000" y="1206500"/>
            <a:ext cx="10922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D4FD2A8-E089-888E-E541-A013B352028A}"/>
              </a:ext>
            </a:extLst>
          </p:cNvPr>
          <p:cNvSpPr/>
          <p:nvPr/>
        </p:nvSpPr>
        <p:spPr>
          <a:xfrm>
            <a:off x="635000" y="1460500"/>
            <a:ext cx="5207000" cy="501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886601-4EB2-652B-A5B0-B995AFCF0044}"/>
              </a:ext>
            </a:extLst>
          </p:cNvPr>
          <p:cNvSpPr/>
          <p:nvPr/>
        </p:nvSpPr>
        <p:spPr>
          <a:xfrm>
            <a:off x="635000" y="1460500"/>
            <a:ext cx="5207000" cy="76200"/>
          </a:xfrm>
          <a:prstGeom prst="rect">
            <a:avLst/>
          </a:prstGeom>
          <a:solidFill>
            <a:srgbClr val="991B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890207-CF1E-AF10-742A-DBAAF4DCCEFA}"/>
              </a:ext>
            </a:extLst>
          </p:cNvPr>
          <p:cNvSpPr txBox="1"/>
          <p:nvPr/>
        </p:nvSpPr>
        <p:spPr>
          <a:xfrm>
            <a:off x="889000" y="1651000"/>
            <a:ext cx="469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Segoe UI" panose="020B0502040204020203" pitchFamily="34" charset="0"/>
              </a:rPr>
              <a:t>1. Phân Hệ Khách Hàng (Customer)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816F40-3485-EFEB-0B9B-C372D43ADA40}"/>
              </a:ext>
            </a:extLst>
          </p:cNvPr>
          <p:cNvSpPr txBox="1"/>
          <p:nvPr/>
        </p:nvSpPr>
        <p:spPr>
          <a:xfrm>
            <a:off x="889000" y="2159000"/>
            <a:ext cx="4699000" cy="20928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300">
                <a:solidFill>
                  <a:srgbClr val="1E293B"/>
                </a:solidFill>
                <a:latin typeface="Segoe UI" panose="020B0502040204020203" pitchFamily="34" charset="0"/>
              </a:rPr>
              <a:t>• Đặt bàn trước trực tuyến:
  - Chọn ngày, khung giờ đến và số lượng khách.
  - Chọn bàn khả dụng trên sơ đồ trực quan.
  - Tự động kiểm tra sức chứa bàn và chống trùng lịch.
• Quét mã QR gọi món tại bàn:
  - Menu điện tử tương thích điện thoại di động (390px).
  - Xem ảnh món, danh mục, giá tiền, mô tả chi tiết.
  - Chọn món vào giỏ tạm Scoped, kèm ghi chú (ít cay...).
  - Gửi đợt gọi món trực tiếp vào đơn bàn đang mở.</a:t>
            </a:r>
            <a:endParaRPr lang="en-GB" sz="1300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593A8A-BBF0-F8C1-6DEE-99F0D16D5A74}"/>
              </a:ext>
            </a:extLst>
          </p:cNvPr>
          <p:cNvSpPr/>
          <p:nvPr/>
        </p:nvSpPr>
        <p:spPr>
          <a:xfrm>
            <a:off x="6350000" y="1460500"/>
            <a:ext cx="5207000" cy="501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268A67-E601-A26E-0FF1-84E1E859BCAA}"/>
              </a:ext>
            </a:extLst>
          </p:cNvPr>
          <p:cNvSpPr/>
          <p:nvPr/>
        </p:nvSpPr>
        <p:spPr>
          <a:xfrm>
            <a:off x="6350000" y="1460500"/>
            <a:ext cx="5207000" cy="762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5BF128-FA45-5A55-E68B-4FC7938FF86C}"/>
              </a:ext>
            </a:extLst>
          </p:cNvPr>
          <p:cNvSpPr txBox="1"/>
          <p:nvPr/>
        </p:nvSpPr>
        <p:spPr>
          <a:xfrm>
            <a:off x="6604000" y="1651000"/>
            <a:ext cx="469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Segoe UI" panose="020B0502040204020203" pitchFamily="34" charset="0"/>
              </a:rPr>
              <a:t>2. Phân Hệ Quản Trị &amp; Vận Hành (Staff/Admin)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9935DC-4B5F-3F27-B1BD-907192E0D299}"/>
              </a:ext>
            </a:extLst>
          </p:cNvPr>
          <p:cNvSpPr txBox="1"/>
          <p:nvPr/>
        </p:nvSpPr>
        <p:spPr>
          <a:xfrm>
            <a:off x="6604000" y="2159000"/>
            <a:ext cx="4699000" cy="249299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300">
                <a:solidFill>
                  <a:srgbClr val="1E293B"/>
                </a:solidFill>
                <a:latin typeface="Segoe UI" panose="020B0502040204020203" pitchFamily="34" charset="0"/>
              </a:rPr>
              <a:t>• Quản lý Sơ đồ bàn (Floor Plan):
  - Theo dõi trạng thái trực quan: Trống / Có khách / Đã đặt.
  - Tiếp nhận khách đặt bàn và mở bàn phục vụ.
• Điều phối chế biến &amp; Bếp:
  - Nhận danh sách món theo thời gian thực từ các bàn.
  - Cập nhật tiến độ: Đang nấu → Đã phục vụ.
• Thu ngân &amp; Đóng bàn:
  - Tự động cộng gộp các dòng món đã gọi.
  - Tính phụ phí dịch vụ (% cấu hình hệ thống).
  - In hóa đơn, hoàn tất thanh toán và đóng bàn.</a:t>
            </a:r>
            <a:endParaRPr lang="en-GB" sz="1300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313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083C8F-95CC-D416-1A2F-518C729D23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5F1F09-5452-A271-7DF4-55A3B7F813FD}"/>
              </a:ext>
            </a:extLst>
          </p:cNvPr>
          <p:cNvSpPr txBox="1"/>
          <p:nvPr/>
        </p:nvSpPr>
        <p:spPr>
          <a:xfrm>
            <a:off x="635000" y="317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991B1B"/>
                </a:solidFill>
                <a:latin typeface="Segoe UI" panose="020B0502040204020203" pitchFamily="34" charset="0"/>
              </a:rPr>
              <a:t>MÔ HÌNH KIẾN TRÚC &amp; TOÀN VẸN DỮ LIỆU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77AC7-EA0D-32B0-03C8-E37C7C0864CE}"/>
              </a:ext>
            </a:extLst>
          </p:cNvPr>
          <p:cNvSpPr txBox="1"/>
          <p:nvPr/>
        </p:nvSpPr>
        <p:spPr>
          <a:xfrm>
            <a:off x="635000" y="571500"/>
            <a:ext cx="1092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200" b="1">
                <a:solidFill>
                  <a:srgbClr val="0F172A"/>
                </a:solidFill>
                <a:latin typeface="Segoe UI" panose="020B0502040204020203" pitchFamily="34" charset="0"/>
              </a:rPr>
              <a:t>Kiến Trúc 4 Tầng &amp; Thiết Kế CSDL Chuẩn 3NF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F3BCA22-B436-E772-C98A-303F971A9317}"/>
              </a:ext>
            </a:extLst>
          </p:cNvPr>
          <p:cNvCxnSpPr/>
          <p:nvPr/>
        </p:nvCxnSpPr>
        <p:spPr>
          <a:xfrm>
            <a:off x="635000" y="1206500"/>
            <a:ext cx="10922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5E2D37D-B2C6-B1BA-F880-DFC600CD24B1}"/>
              </a:ext>
            </a:extLst>
          </p:cNvPr>
          <p:cNvSpPr/>
          <p:nvPr/>
        </p:nvSpPr>
        <p:spPr>
          <a:xfrm>
            <a:off x="635000" y="1460500"/>
            <a:ext cx="5334000" cy="501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631D3C-C456-4E50-6315-43ABFD3763D9}"/>
              </a:ext>
            </a:extLst>
          </p:cNvPr>
          <p:cNvSpPr txBox="1"/>
          <p:nvPr/>
        </p:nvSpPr>
        <p:spPr>
          <a:xfrm>
            <a:off x="889000" y="1587500"/>
            <a:ext cx="482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Segoe UI" panose="020B0502040204020203" pitchFamily="34" charset="0"/>
              </a:rPr>
              <a:t>Kiến Trúc 4 Tầng (Clean Architecture)</a:t>
            </a:r>
            <a:endParaRPr lang="en-GB" sz="16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E0B073-675F-7F09-6BEF-C0F8484AAFA8}"/>
              </a:ext>
            </a:extLst>
          </p:cNvPr>
          <p:cNvSpPr txBox="1"/>
          <p:nvPr/>
        </p:nvSpPr>
        <p:spPr>
          <a:xfrm>
            <a:off x="889000" y="2032000"/>
            <a:ext cx="4826000" cy="29777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250">
                <a:solidFill>
                  <a:srgbClr val="1E293B"/>
                </a:solidFill>
                <a:latin typeface="Segoe UI" panose="020B0502040204020203" pitchFamily="34" charset="0"/>
              </a:rPr>
              <a:t>1. CoreBusiness (Độc lập 100%, không tham chiếu ai):
   - Chứa Entities: DiningTable, MenuItem, TableOrder...
   - Cài đặt 2 Luật nghiệp vụ cốt lõi, Exception domain.
2. UseCases (Chỉ tham chiếu CoreBusiness):
   - Khai báo Interface: ITableRepository, IOrderRepository...
   - Thực thi nghiệp vụ: PlaceReservation, AddOrderLine...
3. Plugins/DataStore (SQL Server &amp; Dapper):
   - Cài đặt Repository cụ thể, truy vấn tham số hóa 100%.
   - Cặp Header-Line thực thi trong Database Transaction.
4. WebApp (Blazor Web App Interactive Server):
   - Composition Root (Program.cs) đăng ký DI.
   - UI components tái sử dụng, phân quyền AuthorizeView.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C613C2-F12C-23D0-CB2D-587DCAE6753E}"/>
              </a:ext>
            </a:extLst>
          </p:cNvPr>
          <p:cNvSpPr/>
          <p:nvPr/>
        </p:nvSpPr>
        <p:spPr>
          <a:xfrm>
            <a:off x="6223000" y="1460500"/>
            <a:ext cx="5334000" cy="501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B78E7A-C11C-BF08-90C7-99E6AE4567DF}"/>
              </a:ext>
            </a:extLst>
          </p:cNvPr>
          <p:cNvSpPr txBox="1"/>
          <p:nvPr/>
        </p:nvSpPr>
        <p:spPr>
          <a:xfrm>
            <a:off x="6477000" y="1587500"/>
            <a:ext cx="482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Segoe UI" panose="020B0502040204020203" pitchFamily="34" charset="0"/>
              </a:rPr>
              <a:t>Thiết Kế CSDL Chuẩn 3NF (7 Bảng)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D20262-B283-6D3B-69C9-29E5AE983886}"/>
              </a:ext>
            </a:extLst>
          </p:cNvPr>
          <p:cNvSpPr txBox="1"/>
          <p:nvPr/>
        </p:nvSpPr>
        <p:spPr>
          <a:xfrm>
            <a:off x="6477000" y="2032000"/>
            <a:ext cx="4826000" cy="240065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50">
                <a:solidFill>
                  <a:srgbClr val="1E293B"/>
                </a:solidFill>
                <a:latin typeface="Segoe UI" panose="020B0502040204020203" pitchFamily="34" charset="0"/>
              </a:rPr>
              <a:t>• DiningTable: Mã bàn, số bàn, sức chứa (số ghế), trạng thái.
• Reservation: Khách hàng, SĐT, giờ đến, liên kết Bàn (FK).
• MenuCategory &amp; MenuItem: Danh mục và món ăn, giá tiền.
• RestaurantConfig: Cấu hình tỷ lệ % phí phục vụ hệ thống.
★ CẶP HEADER – LINE BẮT BUỘC (Mục K2.2):
• TableOrder (Header): Mã đơn, Bàn FK, Tổng tiền món,
  Phí phục vụ, Tổng cộng thanh toán, Trạng thái (Open/Paid).
• TableOrderLine (Line): Mã dòng, Order FK, Món FK,
  Số lượng, Đơn giá lúc gọi, Thành tiền, Ghi chú dòng.
==&gt; Đảm bảo toàn vẹn dữ liệu qua 1 Transaction duy nhất.</a:t>
            </a:r>
            <a:endParaRPr lang="en-GB" sz="1250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676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EFBA08-D0B4-F132-E2F2-BA92A6EB95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ED2727-D9B9-CC2E-3DE9-9F29ECC6D7C1}"/>
              </a:ext>
            </a:extLst>
          </p:cNvPr>
          <p:cNvSpPr txBox="1"/>
          <p:nvPr/>
        </p:nvSpPr>
        <p:spPr>
          <a:xfrm>
            <a:off x="635000" y="317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991B1B"/>
                </a:solidFill>
                <a:latin typeface="Segoe UI" panose="020B0502040204020203" pitchFamily="34" charset="0"/>
              </a:rPr>
              <a:t>TIÊU CHÍ K1.3 &amp; K3.3 — TRỌNG TÂM VẤN ĐÁP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25AEE6-887F-9A95-F423-FA202DC79B19}"/>
              </a:ext>
            </a:extLst>
          </p:cNvPr>
          <p:cNvSpPr txBox="1"/>
          <p:nvPr/>
        </p:nvSpPr>
        <p:spPr>
          <a:xfrm>
            <a:off x="635000" y="571500"/>
            <a:ext cx="1092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200" b="1">
                <a:solidFill>
                  <a:srgbClr val="0F172A"/>
                </a:solidFill>
                <a:latin typeface="Segoe UI" panose="020B0502040204020203" pitchFamily="34" charset="0"/>
              </a:rPr>
              <a:t>Hai Luật Nghiệp Vụ Bắt Buộc &amp; Kịch Bản Demo Vi Phạm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E7F8B2-9F54-29E7-54D6-17A28CCF9DAD}"/>
              </a:ext>
            </a:extLst>
          </p:cNvPr>
          <p:cNvCxnSpPr/>
          <p:nvPr/>
        </p:nvCxnSpPr>
        <p:spPr>
          <a:xfrm>
            <a:off x="635000" y="1206500"/>
            <a:ext cx="10922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386D9FE-F6A2-131D-DDDE-E81643FCAF91}"/>
              </a:ext>
            </a:extLst>
          </p:cNvPr>
          <p:cNvSpPr/>
          <p:nvPr/>
        </p:nvSpPr>
        <p:spPr>
          <a:xfrm>
            <a:off x="635000" y="1460500"/>
            <a:ext cx="5334000" cy="501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0C475C-BD78-77D2-D2C7-8EF48CBFC6CD}"/>
              </a:ext>
            </a:extLst>
          </p:cNvPr>
          <p:cNvSpPr/>
          <p:nvPr/>
        </p:nvSpPr>
        <p:spPr>
          <a:xfrm>
            <a:off x="635000" y="1460500"/>
            <a:ext cx="5334000" cy="76200"/>
          </a:xfrm>
          <a:prstGeom prst="rect">
            <a:avLst/>
          </a:prstGeom>
          <a:solidFill>
            <a:srgbClr val="991B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B1D653-A1AE-BF62-D167-EDF01F80E4DC}"/>
              </a:ext>
            </a:extLst>
          </p:cNvPr>
          <p:cNvSpPr txBox="1"/>
          <p:nvPr/>
        </p:nvSpPr>
        <p:spPr>
          <a:xfrm>
            <a:off x="889000" y="1625600"/>
            <a:ext cx="4826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500" b="1">
                <a:solidFill>
                  <a:srgbClr val="991B1B"/>
                </a:solidFill>
                <a:latin typeface="Segoe UI" panose="020B0502040204020203" pitchFamily="34" charset="0"/>
              </a:rPr>
              <a:t>LUẬT 1: RÀNG BUỘC ĐẶT BÀN
(Sức Chứa &amp; Giãn Cách 2 Giờ)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8174B8-BA01-6127-2679-4793003C6E41}"/>
              </a:ext>
            </a:extLst>
          </p:cNvPr>
          <p:cNvSpPr txBox="1"/>
          <p:nvPr/>
        </p:nvSpPr>
        <p:spPr>
          <a:xfrm>
            <a:off x="889000" y="2286000"/>
            <a:ext cx="4826000" cy="25930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50">
                <a:solidFill>
                  <a:srgbClr val="1E293B"/>
                </a:solidFill>
                <a:latin typeface="Segoe UI" panose="020B0502040204020203" pitchFamily="34" charset="0"/>
              </a:rPr>
              <a:t>• Cài đặt trong CoreBusiness / UseCases:
  1. Số khách đặt &lt;= Số ghế của bàn (GuestCount &lt;= Capacity).
  2. Một bàn không có 2 đặt chỗ trùng trong khung 2 giờ.
• Kịch bản Demo ca vi phạm khi vấn đáp:
  - Ca 1 (Vượt sức chứa): Bàn số 2 chỉ có 4 chỗ, khách nhập
    đặt cho 6 người --&gt; Hệ thống lập tức chặn, thông báo lỗi:
    'Bàn số 2 chỉ chứa tối đa 4 khách. Vui lòng chọn bàn lớn hơn.'
  - Ca 2 (Trùng giờ): Bàn số 1 đã có lịch 18:00. Khách khác cố
    đặt bàn này lúc 19:00 --&gt; Bị chặn, thông báo lỗi thân thiện:
    'Bàn số 1 đã có khách đặt trước trong khung giờ này.'
==&gt; Dẫn chứng file code và số dòng ghi rõ trong GRADING.md</a:t>
            </a:r>
            <a:endParaRPr lang="en-GB" sz="1250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7D24AE-B5FF-F69A-FE5C-B7D3297C3608}"/>
              </a:ext>
            </a:extLst>
          </p:cNvPr>
          <p:cNvSpPr/>
          <p:nvPr/>
        </p:nvSpPr>
        <p:spPr>
          <a:xfrm>
            <a:off x="6223000" y="1460500"/>
            <a:ext cx="5334000" cy="501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F2F68C-5BF8-A848-5562-8650795FC91C}"/>
              </a:ext>
            </a:extLst>
          </p:cNvPr>
          <p:cNvSpPr/>
          <p:nvPr/>
        </p:nvSpPr>
        <p:spPr>
          <a:xfrm>
            <a:off x="6223000" y="1460500"/>
            <a:ext cx="5334000" cy="76200"/>
          </a:xfrm>
          <a:prstGeom prst="rect">
            <a:avLst/>
          </a:prstGeom>
          <a:solidFill>
            <a:srgbClr val="16653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8715E9-1937-9182-B796-6CA70EFA0B41}"/>
              </a:ext>
            </a:extLst>
          </p:cNvPr>
          <p:cNvSpPr txBox="1"/>
          <p:nvPr/>
        </p:nvSpPr>
        <p:spPr>
          <a:xfrm>
            <a:off x="6477000" y="1625600"/>
            <a:ext cx="4826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500" b="1">
                <a:solidFill>
                  <a:srgbClr val="166534"/>
                </a:solidFill>
                <a:latin typeface="Segoe UI" panose="020B0502040204020203" pitchFamily="34" charset="0"/>
              </a:rPr>
              <a:t>LUẬT 2: RÀNG BUỘC GỌI MÓN
(Trạng Thái Bàn, Phí Phục Vụ &amp; Đóng Bàn)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FC39A2-7DF8-F623-DA14-7F0B30EF735F}"/>
              </a:ext>
            </a:extLst>
          </p:cNvPr>
          <p:cNvSpPr txBox="1"/>
          <p:nvPr/>
        </p:nvSpPr>
        <p:spPr>
          <a:xfrm>
            <a:off x="6477000" y="2286000"/>
            <a:ext cx="4826000" cy="25930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50">
                <a:solidFill>
                  <a:srgbClr val="1E293B"/>
                </a:solidFill>
                <a:latin typeface="Segoe UI" panose="020B0502040204020203" pitchFamily="34" charset="0"/>
              </a:rPr>
              <a:t>• Cài đặt trong CoreBusiness / UseCases:
  1. Chỉ được gọi món cho bàn đang mở (Status == Open).
  2. Món đã đánh dấu hết (IsAvailable = false) bị chặn đặt.
  3. Hóa đơn = Tổng dòng món + Phí phục vụ (lấy từ cấu hình).
  4. Không được thêm/sửa món sau khi thu ngân bấm Đóng bàn.
• Kịch bản Demo ca vi phạm khi vấn đáp:
  - Tại bàn đã thanh toán đóng bàn (Status = Paid), gửi lệnh
    thêm món mới --&gt; Domain Exception kích hoạt chặn ngay:
    'Bàn đã hoàn tất thanh toán, không thể thêm món mới.'
  - Không có hiện tượng văng lỗi (crash) màn hình.
==&gt; Đáp ứng tiêu chuẩn K1.3, K3.3 đạt điểm tối đa.</a:t>
            </a:r>
            <a:endParaRPr lang="en-GB" sz="1250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207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FCFCAB-D041-21A9-E6FC-EDDBD21F06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142501-1DF5-2F50-7F07-8B4A0F82C97F}"/>
              </a:ext>
            </a:extLst>
          </p:cNvPr>
          <p:cNvSpPr txBox="1"/>
          <p:nvPr/>
        </p:nvSpPr>
        <p:spPr>
          <a:xfrm>
            <a:off x="635000" y="317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991B1B"/>
                </a:solidFill>
                <a:latin typeface="Segoe UI" panose="020B0502040204020203" pitchFamily="34" charset="0"/>
              </a:rPr>
              <a:t>UI COMPONENT, BẢO MẬT VÀ KẾ HOẠCH THỰC HIỆN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CC21C7-82C2-A9AB-5310-00970693679D}"/>
              </a:ext>
            </a:extLst>
          </p:cNvPr>
          <p:cNvSpPr txBox="1"/>
          <p:nvPr/>
        </p:nvSpPr>
        <p:spPr>
          <a:xfrm>
            <a:off x="635000" y="571500"/>
            <a:ext cx="1092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200" b="1">
                <a:solidFill>
                  <a:srgbClr val="0F172A"/>
                </a:solidFill>
                <a:latin typeface="Segoe UI" panose="020B0502040204020203" pitchFamily="34" charset="0"/>
              </a:rPr>
              <a:t>Component Giao Diện, Mở Rộng AI &amp; Lộ Trình 3 Tuần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1109D1-D967-91A1-0E9C-11F97EB0E94F}"/>
              </a:ext>
            </a:extLst>
          </p:cNvPr>
          <p:cNvCxnSpPr/>
          <p:nvPr/>
        </p:nvCxnSpPr>
        <p:spPr>
          <a:xfrm>
            <a:off x="635000" y="1206500"/>
            <a:ext cx="10922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4BD74FC-27E8-5FBA-0D1F-0948156306E0}"/>
              </a:ext>
            </a:extLst>
          </p:cNvPr>
          <p:cNvSpPr/>
          <p:nvPr/>
        </p:nvSpPr>
        <p:spPr>
          <a:xfrm>
            <a:off x="635000" y="1460500"/>
            <a:ext cx="3429000" cy="501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118E7F-6B0F-58D6-3460-6602A67CE368}"/>
              </a:ext>
            </a:extLst>
          </p:cNvPr>
          <p:cNvSpPr txBox="1"/>
          <p:nvPr/>
        </p:nvSpPr>
        <p:spPr>
          <a:xfrm>
            <a:off x="825500" y="1587500"/>
            <a:ext cx="304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Segoe UI" panose="020B0502040204020203" pitchFamily="34" charset="0"/>
              </a:rPr>
              <a:t>3 Component Tái Sử Dụng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843960-C51D-BC06-EFD8-F55AB8A942EC}"/>
              </a:ext>
            </a:extLst>
          </p:cNvPr>
          <p:cNvSpPr txBox="1"/>
          <p:nvPr/>
        </p:nvSpPr>
        <p:spPr>
          <a:xfrm>
            <a:off x="825500" y="2032000"/>
            <a:ext cx="3048000" cy="249299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>
                <a:solidFill>
                  <a:srgbClr val="1E293B"/>
                </a:solidFill>
                <a:latin typeface="Segoe UI" panose="020B0502040204020203" pitchFamily="34" charset="0"/>
              </a:rPr>
              <a:t>1. TableCardComponent:
Hiển thị ô bàn trực quan, đổi màu theo trạng thái (Xanh: Trống, Đỏ: Đang ăn, Vàng: Đã đặt). Có EventCallback khi chọn bàn.
2. MenuItemCardComponent:
Thẻ món ăn gồm ảnh, tên, giá, nút +/- số lượng. Nhận [Parameter] MenuItem.
3. OrderSummaryDrawer:
Khay giỏ món tại bàn, hiển thị tạm tính, responsive chuẩn di động 390px.</a:t>
            </a:r>
            <a:endParaRPr lang="en-GB" sz="1200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74F30D-4062-AE9E-1DE9-CD399D1693B4}"/>
              </a:ext>
            </a:extLst>
          </p:cNvPr>
          <p:cNvSpPr/>
          <p:nvPr/>
        </p:nvSpPr>
        <p:spPr>
          <a:xfrm>
            <a:off x="4381500" y="1460500"/>
            <a:ext cx="3429000" cy="501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772DD2-113D-534B-839A-EE8CE592C1E8}"/>
              </a:ext>
            </a:extLst>
          </p:cNvPr>
          <p:cNvSpPr txBox="1"/>
          <p:nvPr/>
        </p:nvSpPr>
        <p:spPr>
          <a:xfrm>
            <a:off x="4572000" y="1587500"/>
            <a:ext cx="304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Segoe UI" panose="020B0502040204020203" pitchFamily="34" charset="0"/>
              </a:rPr>
              <a:t>Bảo Mật &amp; Mở Rộng AI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4DCBE1-57B0-929D-B02B-D6E46F8CAE70}"/>
              </a:ext>
            </a:extLst>
          </p:cNvPr>
          <p:cNvSpPr txBox="1"/>
          <p:nvPr/>
        </p:nvSpPr>
        <p:spPr>
          <a:xfrm>
            <a:off x="4572000" y="2032000"/>
            <a:ext cx="3048000" cy="267765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>
                <a:solidFill>
                  <a:srgbClr val="1E293B"/>
                </a:solidFill>
                <a:latin typeface="Segoe UI" panose="020B0502040204020203" pitchFamily="34" charset="0"/>
              </a:rPr>
              <a:t>• Phân quyền 2 vai trò:
- Customer: Xem menu, đặt bàn, gọi món.
- Staff/Admin: Sơ đồ bàn, duyệt bàn, thu ngân.
- Bảo vệ bằng [Authorize(Roles = 'Admin,Staff')], chặn gõ URL trực tiếp (K4.2).
• Trợ lý AI (Mục 10 &amp; K4.3):
- Inject IChatClient vào UseCase riêng.
- AI tư vấn combo món theo số người, ngân sách, dị ứng từ CSDL.
- Khách bấm xác nhận trước khi thêm vào giỏ.</a:t>
            </a:r>
            <a:endParaRPr lang="en-GB" sz="1200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49EE22-2C0B-D662-2A6D-17B2BDFCA75E}"/>
              </a:ext>
            </a:extLst>
          </p:cNvPr>
          <p:cNvSpPr/>
          <p:nvPr/>
        </p:nvSpPr>
        <p:spPr>
          <a:xfrm>
            <a:off x="8128000" y="1460500"/>
            <a:ext cx="3429000" cy="501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FEB0C0-36DB-AB3C-7975-598F2B5DFD2A}"/>
              </a:ext>
            </a:extLst>
          </p:cNvPr>
          <p:cNvSpPr txBox="1"/>
          <p:nvPr/>
        </p:nvSpPr>
        <p:spPr>
          <a:xfrm>
            <a:off x="8318500" y="1587500"/>
            <a:ext cx="304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Segoe UI" panose="020B0502040204020203" pitchFamily="34" charset="0"/>
              </a:rPr>
              <a:t>Lộ Trình &amp; Đạt Điểm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14C359-D0F9-43B8-D44D-3F8B6A56EB7C}"/>
              </a:ext>
            </a:extLst>
          </p:cNvPr>
          <p:cNvSpPr txBox="1"/>
          <p:nvPr/>
        </p:nvSpPr>
        <p:spPr>
          <a:xfrm>
            <a:off x="8318500" y="2032000"/>
            <a:ext cx="3048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200">
                <a:solidFill>
                  <a:srgbClr val="1E293B"/>
                </a:solidFill>
                <a:latin typeface="Segoe UI" panose="020B0502040204020203" pitchFamily="34" charset="0"/>
              </a:rPr>
              <a:t>• Lộ trình 3 tuần:
- Tuần 5: Đăng ký đề, Use Case + Class Diagram, ERD 3NF, Solution In-Memory.
- Tuần 6: SQL Server Dapper, chạy End-to-End luồng bàn &amp; món, test 2 luật.
- Tuần 7: Nộp GRADING.md, Demo live &amp; Vấn đáp bảo vệ.
• Cam kết chuẩn Rubric:
- Đầy đủ minh chứng K1.1 -&gt; K5.3.
- Dependency Rule chuẩn xác.
- Git commit đều các thành viên.</a:t>
            </a:r>
          </a:p>
        </p:txBody>
      </p:sp>
    </p:spTree>
    <p:extLst>
      <p:ext uri="{BB962C8B-B14F-4D97-AF65-F5344CB8AC3E}">
        <p14:creationId xmlns:p14="http://schemas.microsoft.com/office/powerpoint/2010/main" val="4012220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1516</Words>
  <Application>Microsoft Office PowerPoint</Application>
  <PresentationFormat>Custom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Phạm Trần Anh Khoa</dc:creator>
  <cp:lastModifiedBy>Phạm Trần Anh Khoa</cp:lastModifiedBy>
  <cp:revision>1</cp:revision>
  <dcterms:created xsi:type="dcterms:W3CDTF">2026-10-03T01:47:18Z</dcterms:created>
  <dcterms:modified xsi:type="dcterms:W3CDTF">2026-10-03T01:47:18Z</dcterms:modified>
</cp:coreProperties>
</file>